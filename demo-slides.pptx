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ee39298d54567" /><Relationship Type="http://schemas.openxmlformats.org/officeDocument/2006/relationships/extended-properties" Target="/docProps/app.xml" Id="R65f14c45ded14c0e" /><Relationship Type="http://schemas.openxmlformats.org/officeDocument/2006/relationships/officeDocument" Target="/ppt/presentation.xml" Id="Re22bc42e6335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2494dfb3e4c0f"/>
  </p:sldMasterIdLst>
  <p:notesMasterIdLst>
    <p:notesMasterId xmlns:r="http://schemas.openxmlformats.org/officeDocument/2006/relationships" r:id="Rec09a8c15ce84e7b"/>
  </p:notesMasterIdLst>
  <p:sldIdLst>
    <p:sldId xmlns:r="http://schemas.openxmlformats.org/officeDocument/2006/relationships" id="256" r:id="Rf648a16bd6784668"/>
    <p:sldId xmlns:r="http://schemas.openxmlformats.org/officeDocument/2006/relationships" id="257" r:id="R3a32d9fa7dbe4023"/>
    <p:sldId xmlns:r="http://schemas.openxmlformats.org/officeDocument/2006/relationships" id="258" r:id="R56c712892fb34902"/>
    <p:sldId xmlns:r="http://schemas.openxmlformats.org/officeDocument/2006/relationships" id="259" r:id="Rcbb2f86893434d78"/>
    <p:sldId xmlns:r="http://schemas.openxmlformats.org/officeDocument/2006/relationships" id="260" r:id="Ra4ffca6f79f24dfa"/>
    <p:sldId xmlns:r="http://schemas.openxmlformats.org/officeDocument/2006/relationships" id="261" r:id="R142ec7562261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43e93877d4c3d" /><Relationship Type="http://schemas.openxmlformats.org/officeDocument/2006/relationships/slideMaster" Target="/ppt/slideMasters/slideMaster1.xml" Id="R82b2494dfb3e4c0f" /><Relationship Type="http://schemas.openxmlformats.org/officeDocument/2006/relationships/notesMaster" Target="/ppt/notesMasters/notesMaster1.xml" Id="Rec09a8c15ce84e7b" /><Relationship Type="http://schemas.openxmlformats.org/officeDocument/2006/relationships/presProps" Target="/ppt/presProps.xml" Id="R42052f029a16495e" /><Relationship Type="http://schemas.openxmlformats.org/officeDocument/2006/relationships/tableStyles" Target="/ppt/tableStyles.xml" Id="Ra7b2d05de61a408e" /><Relationship Type="http://schemas.openxmlformats.org/officeDocument/2006/relationships/slide" Target="/ppt/slides/slide1.xml" Id="Rf648a16bd6784668" /><Relationship Type="http://schemas.openxmlformats.org/officeDocument/2006/relationships/slide" Target="/ppt/slides/slide2.xml" Id="R3a32d9fa7dbe4023" /><Relationship Type="http://schemas.openxmlformats.org/officeDocument/2006/relationships/slide" Target="/ppt/slides/slide3.xml" Id="R56c712892fb34902" /><Relationship Type="http://schemas.openxmlformats.org/officeDocument/2006/relationships/slide" Target="/ppt/slides/slide4.xml" Id="Rcbb2f86893434d78" /><Relationship Type="http://schemas.openxmlformats.org/officeDocument/2006/relationships/slide" Target="/ppt/slides/slide5.xml" Id="Ra4ffca6f79f24dfa" /><Relationship Type="http://schemas.openxmlformats.org/officeDocument/2006/relationships/slide" Target="/ppt/slides/slide6.xml" Id="R142ec7562261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4a768be9e943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36eb6eecd49a6" /><Relationship Type="http://schemas.openxmlformats.org/officeDocument/2006/relationships/notesMaster" Target="/ppt/notesMasters/notesMaster1.xml" Id="R77250a9369dc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706676ce754848" /><Relationship Type="http://schemas.openxmlformats.org/officeDocument/2006/relationships/notesMaster" Target="/ppt/notesMasters/notesMaster1.xml" Id="R4ab5095a6b0f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2b3a2c8f3d4ee4" /><Relationship Type="http://schemas.openxmlformats.org/officeDocument/2006/relationships/notesMaster" Target="/ppt/notesMasters/notesMaster1.xml" Id="Rc46768dde7324a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8dd933dd9741b3" /><Relationship Type="http://schemas.openxmlformats.org/officeDocument/2006/relationships/notesMaster" Target="/ppt/notesMasters/notesMaster1.xml" Id="R379183d99015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a66085f085486e" /><Relationship Type="http://schemas.openxmlformats.org/officeDocument/2006/relationships/notesMaster" Target="/ppt/notesMasters/notesMaster1.xml" Id="R82c67f5ba6464f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f29a7daad64f43" /><Relationship Type="http://schemas.openxmlformats.org/officeDocument/2006/relationships/notesMaster" Target="/ppt/notesMasters/notesMaster1.xml" Id="Raf9e79db6796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pain: học viên nhớ chủ đề nhưng không nhớ bài nằm ở đâu.</a:t>
            </a:r>
          </a:p>
          <a:p xmlns:a="http://schemas.openxmlformats.org/drawingml/2006/main">
            <a:r>
              <a:t>Nêu rõ sản phẩm không trả lời thay bài viết; sản phẩm giúp tìm và kiểm chứng nguồn.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D:/Ai_Thuc_Chien/Lap/Batch03-K3-AI-Product-Hackathon/README.md</a:t>
            </a:r>
          </a:p>
          <a:p xmlns:a="http://schemas.openxmlformats.org/drawingml/2006/main">
            <a:r>
              <a:t>- D:/Ai_Thuc_Chien/Lap/Batch03-K3-AI-Product-Hackathon/demo-backup/01-dashboard.png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ba hướng đã cân nhắc và lý do giữ lại ứng viên hiện tại.</a:t>
            </a:r>
          </a:p>
          <a:p xmlns:a="http://schemas.openxmlformats.org/drawingml/2006/main">
            <a:r>
              <a:t>Con số pain sẽ được bổ sung sau mining/khảo sát thật.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D:/Ai_Thuc_Chien/Lap/Batch03-K3-AI-Product-Hackathon/spec.md — §2 và §4</a:t>
            </a:r>
          </a:p>
          <a:p xmlns:a="http://schemas.openxmlformats.org/drawingml/2006/main">
            <a:r>
              <a:t>- D:/Ai_Thuc_Chien/Lap/Batch03-K3-AI-Product-Hackathon/evidence/mining-log.md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request tìm kiếm không kích hoạt sync; worker chạy độc lập theo interval.</a:t>
            </a:r>
          </a:p>
          <a:p xmlns:a="http://schemas.openxmlformats.org/drawingml/2006/main">
            <a:r>
              <a:t>Embedding hiện tại chạy local nên không gửi nội dung Discord ra ngoài.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D:/Ai_Thuc_Chien/Lap/Batch03-K3-AI-Product-Hackathon/codebase/main.py</a:t>
            </a:r>
          </a:p>
          <a:p xmlns:a="http://schemas.openxmlformats.org/drawingml/2006/main">
            <a:r>
              <a:t>- D:/Ai_Thuc_Chien/Lap/Batch03-K3-AI-Product-Hackathon/codebase/sqlite_storage.py</a:t>
            </a:r>
          </a:p>
          <a:p xmlns:a="http://schemas.openxmlformats.org/drawingml/2006/main">
            <a:r>
              <a:t>- D:/Ai_Thuc_Chien/Lap/Batch03-K3-AI-Product-Hackathon/codebase/embedding_index.py</a:t>
            </a:r>
          </a:p>
          <a:p xmlns:a="http://schemas.openxmlformats.org/drawingml/2006/main">
            <a:r>
              <a:t>- D:/Ai_Thuc_Chien/Lap/Batch03-K3-AI-Product-Hackathon/demo-backup/01-dashboard.png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case ngoài phạm vi: câu hỏi thời tiết phải bị từ chối.</a:t>
            </a:r>
          </a:p>
          <a:p xmlns:a="http://schemas.openxmlformats.org/drawingml/2006/main">
            <a:r>
              <a:t>Nêu giới hạn: eval hiện chạy trên mock dataset cố định để lặp lại được.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D:/Ai_Thuc_Chien/Lap/Batch03-K3-AI-Product-Hackathon/eval/summary.json</a:t>
            </a:r>
          </a:p>
          <a:p xmlns:a="http://schemas.openxmlformats.org/drawingml/2006/main">
            <a:r>
              <a:t>- D:/Ai_Thuc_Chien/Lap/Batch03-K3-AI-Product-Hackathon/eval/results.csv</a:t>
            </a:r>
          </a:p>
          <a:p xmlns:a="http://schemas.openxmlformats.org/drawingml/2006/main">
            <a:r>
              <a:t>- D:/Ai_Thuc_Chien/Lap/Batch03-K3-AI-Product-Hackathon/demo-backup/03-out-of-scope.png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trình bày feedback khi chưa có dữ liệu người dùng thật.</a:t>
            </a:r>
          </a:p>
          <a:p xmlns:a="http://schemas.openxmlformats.org/drawingml/2006/main">
            <a:r>
              <a:t>Sau vòng test, thay slide bằng hai quote nguyên văn và một thay đổi đã làm.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D:/Ai_Thuc_Chien/Lap/Batch03-K3-AI-Product-Hackathon/validation/feedback-log.md</a:t>
            </a:r>
          </a:p>
          <a:p xmlns:a="http://schemas.openxmlformats.org/drawingml/2006/main">
            <a:r>
              <a:t>- D:/Ai_Thuc_Chien/Lap/Batch03-K3-AI-Product-Hackathon/02-guide.md — §4.2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Chốt bằng thứ tự ưu tiên: độ chính xác, chất lượng tín hiệu, rồi độ bền vận hành.</a:t>
            </a:r>
          </a:p>
          <a:p xmlns:a="http://schemas.openxmlformats.org/drawingml/2006/main">
            <a:r>
              <a:t>Mỗi thành viên nhận một nhánh phù hợp với vai trò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D:/Ai_Thuc_Chien/Lap/Batch03-K3-AI-Product-Hackathon/codebase/README.md</a:t>
            </a:r>
          </a:p>
          <a:p xmlns:a="http://schemas.openxmlformats.org/drawingml/2006/main">
            <a:r>
              <a:t>- D:/Ai_Thuc_Chien/Lap/Batch03-K3-AI-Product-Hackathon/spec.md — §9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0124e09d44d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185c4aa4d4f00" /><Relationship Type="http://schemas.openxmlformats.org/officeDocument/2006/relationships/slideLayout" Target="/ppt/slideLayouts/slideLayout1.xml" Id="R016f234c4467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f234c4467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2c07ab7174c06" /><Relationship Type="http://schemas.openxmlformats.org/officeDocument/2006/relationships/image" Target="/ppt/media/image.jpeg" Id="R215598217e9c4742" /><Relationship Type="http://schemas.openxmlformats.org/officeDocument/2006/relationships/notesSlide" Target="/ppt/notesSlides/notesSlide1.xml" Id="R5a17e20038a2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f84fd87fb4feb" /><Relationship Type="http://schemas.openxmlformats.org/officeDocument/2006/relationships/notesSlide" Target="/ppt/notesSlides/notesSlide2.xml" Id="R44784baf3f9f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9a55ec12341ac" /><Relationship Type="http://schemas.openxmlformats.org/officeDocument/2006/relationships/image" Target="/ppt/media/image2.jpeg" Id="R8b0d31f36f2a4c43" /><Relationship Type="http://schemas.openxmlformats.org/officeDocument/2006/relationships/notesSlide" Target="/ppt/notesSlides/notesSlide3.xml" Id="R25cbbda1b1ee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de0c03ac24a1b" /><Relationship Type="http://schemas.openxmlformats.org/officeDocument/2006/relationships/image" Target="/ppt/media/image3.jpeg" Id="R7200898f2db547a1" /><Relationship Type="http://schemas.openxmlformats.org/officeDocument/2006/relationships/notesSlide" Target="/ppt/notesSlides/notesSlide4.xml" Id="R297035aacb9449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1c42028fb43d7" /><Relationship Type="http://schemas.openxmlformats.org/officeDocument/2006/relationships/notesSlide" Target="/ppt/notesSlides/notesSlide5.xml" Id="R37f261010bfb46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de9f867054904" /><Relationship Type="http://schemas.openxmlformats.org/officeDocument/2006/relationships/notesSlide" Target="/ppt/notesSlides/notesSlide6.xml" Id="R5a96ed0e87ad4b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6D880F4-D095-4268-BC0F-6A5998A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F6"/>
          </a:solidFill>
          <a:ln xmlns:a="http://schemas.openxmlformats.org/drawingml/2006/main" w="0">
            <a:solidFill>
              <a:srgbClr val="665CF6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2B69663-52EE-44E3-96AF-3A99F214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CF6"/>
                </a:solidFill>
              </a:defRPr>
            </a:pPr>
            <a:r>
              <a:rPr sz="1200" b="1">
                <a:solidFill>
                  <a:srgbClr val="665CF6"/>
                </a:solidFill>
              </a:rPr>
              <a:t>QUALITY HUB · NHÓM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ECE80-1FE9-4144-8E94-2E59F14D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953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928"/>
                </a:solidFill>
              </a:defRPr>
            </a:pPr>
            <a:r>
              <a:rPr sz="4050" b="1">
                <a:solidFill>
                  <a:srgbClr val="171928"/>
                </a:solidFill>
              </a:rPr>
              <a:t>Tìm đúng bài Discord</a:t>
            </a:r>
          </a:p>
          <a:p xmlns:a="http://schemas.openxmlformats.org/drawingml/2006/main">
            <a:pPr algn="l">
              <a:defRPr sz="4050" b="1">
                <a:solidFill>
                  <a:srgbClr val="171928"/>
                </a:solidFill>
              </a:defRPr>
            </a:pPr>
            <a:r>
              <a:rPr sz="4050" b="1">
                <a:solidFill>
                  <a:srgbClr val="171928"/>
                </a:solidFill>
              </a:rPr>
              <a:t>đáng đọc trong vài giây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4EAC02A-5419-4813-9DDE-3394450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57A"/>
                </a:solidFill>
              </a:defRPr>
            </a:pPr>
            <a:r>
              <a:rPr sz="1800" b="0">
                <a:solidFill>
                  <a:srgbClr val="60657A"/>
                </a:solidFill>
              </a:rPr>
              <a:t>Trợ lý tổng hợp, xếp hạng và dẫn người học về đúng nguồn gốc.</a:t>
            </a:r>
          </a:p>
        </p:txBody>
      </p:sp>
      <p:sp>
        <p:nvSpPr>
          <p:cNvPr id="5" name="tech-line">
            <a:extLst xmlns:a="http://schemas.openxmlformats.org/drawingml/2006/main">
              <a:ext uri="{FF2B5EF4-FFF2-40B4-BE49-F238E27FC236}">
                <a16:creationId xmlns:a16="http://schemas.microsoft.com/office/drawing/2014/main" id="{B3105162-4B6D-4BA8-8551-55BAE6E7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42D7"/>
                </a:solidFill>
              </a:defRPr>
            </a:pPr>
            <a:r>
              <a:rPr sz="1350" b="1">
                <a:solidFill>
                  <a:srgbClr val="4D42D7"/>
                </a:solidFill>
              </a:rPr>
              <a:t>SQLite  ·  Hybrid Search  ·  Background Workflow</a:t>
            </a:r>
          </a:p>
        </p:txBody>
      </p:sp>
      <p:sp>
        <p:nvSpPr>
          <p:cNvPr id="6" name="Ảnh giao diện Quality Hub-frame">
            <a:extLst xmlns:a="http://schemas.openxmlformats.org/drawingml/2006/main">
              <a:ext uri="{FF2B5EF4-FFF2-40B4-BE49-F238E27FC236}">
                <a16:creationId xmlns:a16="http://schemas.microsoft.com/office/drawing/2014/main" id="{DEB488B1-5942-4F4D-A93C-C7A2942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81050"/>
            <a:ext cx="5629275" cy="520065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98217e9c4742"/>
          <a:srcRect xmlns:a="http://schemas.openxmlformats.org/drawingml/2006/main" l="16183" t="0" r="16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857250"/>
            <a:ext cx="5476875" cy="5048250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8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2D096EA-B716-4DD1-8556-FE4AEE3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AI Product Hackathon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C2A3500F-469A-4C6E-BC4D-3F66B06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3615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736D84AB-B778-43B7-98E4-1B8C3940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928"/>
                </a:solidFill>
              </a:defRPr>
            </a:pPr>
            <a:r>
              <a:rPr sz="3000" b="1">
                <a:solidFill>
                  <a:srgbClr val="171928"/>
                </a:solidFill>
              </a:rPr>
              <a:t>Lát cắt được chọn vì kết quả luôn kiểm chứng được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3F078F-883A-4B32-AE2A-21F82D8F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F6"/>
          </a:solidFill>
          <a:ln xmlns:a="http://schemas.openxmlformats.org/drawingml/2006/main" w="0">
            <a:solidFill>
              <a:srgbClr val="665CF6"/>
            </a:solidFill>
            <a:prstDash val="solid"/>
          </a:ln>
        </p:spPr>
      </p:sp>
      <p:sp>
        <p:nvSpPr>
          <p:cNvPr id="3" name="one-user">
            <a:extLst xmlns:a="http://schemas.openxmlformats.org/drawingml/2006/main">
              <a:ext uri="{FF2B5EF4-FFF2-40B4-BE49-F238E27FC236}">
                <a16:creationId xmlns:a16="http://schemas.microsoft.com/office/drawing/2014/main" id="{C5A58534-30A7-4FAF-9119-884C366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665CF6"/>
                </a:solidFill>
              </a:defRPr>
            </a:pPr>
            <a:r>
              <a:rPr sz="5700" b="1">
                <a:solidFill>
                  <a:srgbClr val="665CF6"/>
                </a:solidFill>
              </a:rPr>
              <a:t>1</a:t>
            </a:r>
          </a:p>
        </p:txBody>
      </p:sp>
      <p:sp>
        <p:nvSpPr>
          <p:cNvPr id="4" name="slice">
            <a:extLst xmlns:a="http://schemas.openxmlformats.org/drawingml/2006/main">
              <a:ext uri="{FF2B5EF4-FFF2-40B4-BE49-F238E27FC236}">
                <a16:creationId xmlns:a16="http://schemas.microsoft.com/office/drawing/2014/main" id="{3F197746-B597-471E-BFFC-B6503F4A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361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928"/>
                </a:solidFill>
              </a:defRPr>
            </a:pPr>
            <a:r>
              <a:rPr sz="2400" b="1">
                <a:solidFill>
                  <a:srgbClr val="171928"/>
                </a:solidFill>
              </a:rPr>
              <a:t>học viên</a:t>
            </a:r>
          </a:p>
          <a:p xmlns:a="http://schemas.openxmlformats.org/drawingml/2006/main">
            <a:pPr algn="l">
              <a:defRPr sz="2400" b="1">
                <a:solidFill>
                  <a:srgbClr val="171928"/>
                </a:solidFill>
              </a:defRPr>
            </a:pPr>
            <a:r>
              <a:rPr sz="2400" b="1">
                <a:solidFill>
                  <a:srgbClr val="171928"/>
                </a:solidFill>
              </a:rPr>
              <a:t>1 chủ đề</a:t>
            </a:r>
          </a:p>
          <a:p xmlns:a="http://schemas.openxmlformats.org/drawingml/2006/main">
            <a:pPr algn="l">
              <a:defRPr sz="2400" b="1">
                <a:solidFill>
                  <a:srgbClr val="171928"/>
                </a:solidFill>
              </a:defRPr>
            </a:pPr>
            <a:r>
              <a:rPr sz="2400" b="1">
                <a:solidFill>
                  <a:srgbClr val="171928"/>
                </a:solidFill>
              </a:rPr>
              <a:t>1 quyết định AI</a:t>
            </a:r>
          </a:p>
          <a:p xmlns:a="http://schemas.openxmlformats.org/drawingml/2006/main">
            <a:pPr algn="l">
              <a:defRPr sz="2400" b="1">
                <a:solidFill>
                  <a:srgbClr val="171928"/>
                </a:solidFill>
              </a:defRPr>
            </a:pPr>
            <a:r>
              <a:rPr sz="2400" b="1">
                <a:solidFill>
                  <a:srgbClr val="171928"/>
                </a:solidFill>
              </a:rPr>
              <a:t>1 link gốc</a:t>
            </a:r>
          </a:p>
        </p:txBody>
      </p:sp>
      <p:sp>
        <p:nvSpPr>
          <p:cNvPr id="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90CF24F4-526B-4BC6-89C1-5A9F89C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7A"/>
                </a:solidFill>
              </a:defRPr>
            </a:pPr>
            <a:r>
              <a:rPr sz="1650" b="0">
                <a:solidFill>
                  <a:srgbClr val="60657A"/>
                </a:solidFill>
              </a:rPr>
              <a:t>Nếu xếp hạng chưa hoàn hảo, người học vẫn có thể mở nguồn và tự đánh giá.</a:t>
            </a:r>
          </a:p>
        </p:txBody>
      </p:sp>
      <p:sp>
        <p:nvSpPr>
          <p:cNvPr id="6" name="choice-1-rule">
            <a:extLst xmlns:a="http://schemas.openxmlformats.org/drawingml/2006/main">
              <a:ext uri="{FF2B5EF4-FFF2-40B4-BE49-F238E27FC236}">
                <a16:creationId xmlns:a16="http://schemas.microsoft.com/office/drawing/2014/main" id="{849D8BD1-D9A0-4BA0-970F-8F6FE62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78"/>
          </a:solidFill>
          <a:ln xmlns:a="http://schemas.openxmlformats.org/drawingml/2006/main" w="0">
            <a:solidFill>
              <a:srgbClr val="20A878"/>
            </a:solidFill>
            <a:prstDash val="solid"/>
          </a:ln>
        </p:spPr>
      </p:sp>
      <p:sp>
        <p:nvSpPr>
          <p:cNvPr id="7" name="choice-1-label">
            <a:extLst xmlns:a="http://schemas.openxmlformats.org/drawingml/2006/main">
              <a:ext uri="{FF2B5EF4-FFF2-40B4-BE49-F238E27FC236}">
                <a16:creationId xmlns:a16="http://schemas.microsoft.com/office/drawing/2014/main" id="{8474F991-140A-4EE7-9C31-6B2A6159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878"/>
                </a:solidFill>
              </a:defRPr>
            </a:pPr>
            <a:r>
              <a:rPr sz="1200" b="1">
                <a:solidFill>
                  <a:srgbClr val="20A878"/>
                </a:solidFill>
              </a:rPr>
              <a:t>CHỌN</a:t>
            </a:r>
          </a:p>
        </p:txBody>
      </p:sp>
      <p:sp>
        <p:nvSpPr>
          <p:cNvPr id="8" name="choice-1-text">
            <a:extLst xmlns:a="http://schemas.openxmlformats.org/drawingml/2006/main">
              <a:ext uri="{FF2B5EF4-FFF2-40B4-BE49-F238E27FC236}">
                <a16:creationId xmlns:a16="http://schemas.microsoft.com/office/drawing/2014/main" id="{E85C5E6A-11DD-470F-A769-B4AF96E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28"/>
                </a:solidFill>
              </a:defRPr>
            </a:pPr>
            <a:r>
              <a:rPr sz="2100" b="1">
                <a:solidFill>
                  <a:srgbClr val="171928"/>
                </a:solidFill>
              </a:rPr>
              <a:t>Tìm bài Discord theo chủ đề</a:t>
            </a:r>
          </a:p>
        </p:txBody>
      </p:sp>
      <p:sp>
        <p:nvSpPr>
          <p:cNvPr id="9" name="choice-2-rule">
            <a:extLst xmlns:a="http://schemas.openxmlformats.org/drawingml/2006/main">
              <a:ext uri="{FF2B5EF4-FFF2-40B4-BE49-F238E27FC236}">
                <a16:creationId xmlns:a16="http://schemas.microsoft.com/office/drawing/2014/main" id="{DC043E16-2F4A-47B6-B245-079196C9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0" name="choice-2-label">
            <a:extLst xmlns:a="http://schemas.openxmlformats.org/drawingml/2006/main">
              <a:ext uri="{FF2B5EF4-FFF2-40B4-BE49-F238E27FC236}">
                <a16:creationId xmlns:a16="http://schemas.microsoft.com/office/drawing/2014/main" id="{F38B3651-AE49-4893-90BC-E1D42F0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91A4"/>
                </a:solidFill>
              </a:defRPr>
            </a:pPr>
            <a:r>
              <a:rPr sz="1200" b="1">
                <a:solidFill>
                  <a:srgbClr val="8D91A4"/>
                </a:solidFill>
              </a:rPr>
              <a:t>LOẠI</a:t>
            </a:r>
          </a:p>
        </p:txBody>
      </p:sp>
      <p:sp>
        <p:nvSpPr>
          <p:cNvPr id="11" name="choice-2-text">
            <a:extLst xmlns:a="http://schemas.openxmlformats.org/drawingml/2006/main">
              <a:ext uri="{FF2B5EF4-FFF2-40B4-BE49-F238E27FC236}">
                <a16:creationId xmlns:a16="http://schemas.microsoft.com/office/drawing/2014/main" id="{C5D91607-A3EC-4197-AF56-52312135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28"/>
                </a:solidFill>
              </a:defRPr>
            </a:pPr>
            <a:r>
              <a:rPr sz="1950" b="1">
                <a:solidFill>
                  <a:srgbClr val="171928"/>
                </a:solidFill>
              </a:rPr>
              <a:t>Trả lời deadline và logistics</a:t>
            </a:r>
          </a:p>
        </p:txBody>
      </p:sp>
      <p:sp>
        <p:nvSpPr>
          <p:cNvPr id="12" name="choice-2-why">
            <a:extLst xmlns:a="http://schemas.openxmlformats.org/drawingml/2006/main">
              <a:ext uri="{FF2B5EF4-FFF2-40B4-BE49-F238E27FC236}">
                <a16:creationId xmlns:a16="http://schemas.microsoft.com/office/drawing/2014/main" id="{9A41CA1A-19C5-40E0-AC7D-FDCB4AC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7A"/>
                </a:solidFill>
              </a:defRPr>
            </a:pPr>
            <a:r>
              <a:rPr sz="1350" b="0">
                <a:solidFill>
                  <a:srgbClr val="60657A"/>
                </a:solidFill>
              </a:rPr>
              <a:t>Sai thông tin có cost-of-error cao.</a:t>
            </a:r>
          </a:p>
        </p:txBody>
      </p:sp>
      <p:sp>
        <p:nvSpPr>
          <p:cNvPr id="13" name="choice-3-rule">
            <a:extLst xmlns:a="http://schemas.openxmlformats.org/drawingml/2006/main">
              <a:ext uri="{FF2B5EF4-FFF2-40B4-BE49-F238E27FC236}">
                <a16:creationId xmlns:a16="http://schemas.microsoft.com/office/drawing/2014/main" id="{750B24AF-C979-431B-8388-C9A5EFC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4" name="choice-3-label">
            <a:extLst xmlns:a="http://schemas.openxmlformats.org/drawingml/2006/main">
              <a:ext uri="{FF2B5EF4-FFF2-40B4-BE49-F238E27FC236}">
                <a16:creationId xmlns:a16="http://schemas.microsoft.com/office/drawing/2014/main" id="{F6553E4D-E28F-4F6A-A90A-E118350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91A4"/>
                </a:solidFill>
              </a:defRPr>
            </a:pPr>
            <a:r>
              <a:rPr sz="1200" b="1">
                <a:solidFill>
                  <a:srgbClr val="8D91A4"/>
                </a:solidFill>
              </a:rPr>
              <a:t>LOẠI</a:t>
            </a:r>
          </a:p>
        </p:txBody>
      </p:sp>
      <p:sp>
        <p:nvSpPr>
          <p:cNvPr id="15" name="choice-3-text">
            <a:extLst xmlns:a="http://schemas.openxmlformats.org/drawingml/2006/main">
              <a:ext uri="{FF2B5EF4-FFF2-40B4-BE49-F238E27FC236}">
                <a16:creationId xmlns:a16="http://schemas.microsoft.com/office/drawing/2014/main" id="{D557E697-F841-44FD-823D-6923B8E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28"/>
                </a:solidFill>
              </a:defRPr>
            </a:pPr>
            <a:r>
              <a:rPr sz="1950" b="1">
                <a:solidFill>
                  <a:srgbClr val="171928"/>
                </a:solidFill>
              </a:rPr>
              <a:t>Bản tin cuối ngày cho TA</a:t>
            </a:r>
          </a:p>
        </p:txBody>
      </p:sp>
      <p:sp>
        <p:nvSpPr>
          <p:cNvPr id="16" name="choice-3-why">
            <a:extLst xmlns:a="http://schemas.openxmlformats.org/drawingml/2006/main">
              <a:ext uri="{FF2B5EF4-FFF2-40B4-BE49-F238E27FC236}">
                <a16:creationId xmlns:a16="http://schemas.microsoft.com/office/drawing/2014/main" id="{575D61BB-5922-472A-824A-4AEBFDA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7A"/>
                </a:solidFill>
              </a:defRPr>
            </a:pPr>
            <a:r>
              <a:rPr sz="1350" b="0">
                <a:solidFill>
                  <a:srgbClr val="60657A"/>
                </a:solidFill>
              </a:rPr>
              <a:t>Cần nhiều channel và user research riêng.</a:t>
            </a:r>
          </a:p>
        </p:txBody>
      </p:sp>
      <p:sp>
        <p:nvSpPr>
          <p:cNvPr id="1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C01F1CB9-B33D-4CE1-92BA-E0C7E8F4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User &amp; Job</a:t>
            </a:r>
          </a:p>
        </p:txBody>
      </p:sp>
      <p:sp>
        <p:nvSpPr>
          <p:cNvPr id="1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E2AA067-7303-4C83-81C5-33DBE26C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4668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885C71C1-6266-42EB-82F9-4C774E7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28"/>
                </a:solidFill>
              </a:defRPr>
            </a:pPr>
            <a:r>
              <a:rPr sz="2850" b="1">
                <a:solidFill>
                  <a:srgbClr val="171928"/>
                </a:solidFill>
              </a:rPr>
              <a:t>Workflow tự động đưa bài mới vào một luồng tìm kiếm có căn cứ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ADA1A56-F0A5-4E57-8EF5-84F7783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F6"/>
          </a:solidFill>
          <a:ln xmlns:a="http://schemas.openxmlformats.org/drawingml/2006/main" w="0">
            <a:solidFill>
              <a:srgbClr val="665CF6"/>
            </a:solidFill>
            <a:prstDash val="solid"/>
          </a:ln>
        </p:spPr>
      </p:sp>
      <p:sp>
        <p:nvSpPr>
          <p:cNvPr id="3" name="arrow-1">
            <a:extLst xmlns:a="http://schemas.openxmlformats.org/drawingml/2006/main">
              <a:ext uri="{FF2B5EF4-FFF2-40B4-BE49-F238E27FC236}">
                <a16:creationId xmlns:a16="http://schemas.microsoft.com/office/drawing/2014/main" id="{28126F9F-D457-49E7-9B3B-CD9F7F2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95450"/>
            <a:ext cx="47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5CF6"/>
                </a:solidFill>
              </a:defRPr>
            </a:pPr>
            <a:r>
              <a:rPr sz="2700" b="1">
                <a:solidFill>
                  <a:srgbClr val="665CF6"/>
                </a:solidFill>
              </a:rPr>
              <a:t>→</a:t>
            </a:r>
          </a:p>
        </p:txBody>
      </p:sp>
      <p:sp>
        <p:nvSpPr>
          <p:cNvPr id="4" name="arrow-2">
            <a:extLst xmlns:a="http://schemas.openxmlformats.org/drawingml/2006/main">
              <a:ext uri="{FF2B5EF4-FFF2-40B4-BE49-F238E27FC236}">
                <a16:creationId xmlns:a16="http://schemas.microsoft.com/office/drawing/2014/main" id="{1F2CDE90-DEBB-4A5F-A559-C49C546B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7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5CF6"/>
                </a:solidFill>
              </a:defRPr>
            </a:pPr>
            <a:r>
              <a:rPr sz="2700" b="1">
                <a:solidFill>
                  <a:srgbClr val="665CF6"/>
                </a:solidFill>
              </a:rPr>
              <a:t>→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C336D5F8-C9F4-49E9-8E5E-212EB87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74C6E997-8EFC-446A-B9C2-07F57036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3524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3A6E4036-E552-4BCD-85A9-CDEE2199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sp>
        <p:nvSpPr>
          <p:cNvPr id="8" name="node-1-title">
            <a:extLst xmlns:a="http://schemas.openxmlformats.org/drawingml/2006/main">
              <a:ext uri="{FF2B5EF4-FFF2-40B4-BE49-F238E27FC236}">
                <a16:creationId xmlns:a16="http://schemas.microsoft.com/office/drawing/2014/main" id="{799110FF-948A-44BD-9617-1DE8C73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28"/>
                </a:solidFill>
              </a:defRPr>
            </a:pPr>
            <a:r>
              <a:rPr sz="1650" b="1">
                <a:solidFill>
                  <a:srgbClr val="171928"/>
                </a:solidFill>
              </a:rPr>
              <a:t>01  Discord worker</a:t>
            </a:r>
          </a:p>
        </p:txBody>
      </p:sp>
      <p:sp>
        <p:nvSpPr>
          <p:cNvPr id="9" name="node-1-body">
            <a:extLst xmlns:a="http://schemas.openxmlformats.org/drawingml/2006/main">
              <a:ext uri="{FF2B5EF4-FFF2-40B4-BE49-F238E27FC236}">
                <a16:creationId xmlns:a16="http://schemas.microsoft.com/office/drawing/2014/main" id="{1523A67B-56E9-405F-81BE-534E927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7A"/>
                </a:solidFill>
              </a:defRPr>
            </a:pPr>
            <a:r>
              <a:rPr sz="1200" b="0">
                <a:solidFill>
                  <a:srgbClr val="60657A"/>
                </a:solidFill>
              </a:rPr>
              <a:t>Phát hiện và làm sạch bài mới</a:t>
            </a:r>
          </a:p>
        </p:txBody>
      </p:sp>
      <p:sp>
        <p:nvSpPr>
          <p:cNvPr id="10" name="node-2-title">
            <a:extLst xmlns:a="http://schemas.openxmlformats.org/drawingml/2006/main">
              <a:ext uri="{FF2B5EF4-FFF2-40B4-BE49-F238E27FC236}">
                <a16:creationId xmlns:a16="http://schemas.microsoft.com/office/drawing/2014/main" id="{80C53DC0-DA0C-471E-9F55-6E968A6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28"/>
                </a:solidFill>
              </a:defRPr>
            </a:pPr>
            <a:r>
              <a:rPr sz="1650" b="1">
                <a:solidFill>
                  <a:srgbClr val="171928"/>
                </a:solidFill>
              </a:rPr>
              <a:t>02  SQLite + embedding</a:t>
            </a:r>
          </a:p>
        </p:txBody>
      </p:sp>
      <p:sp>
        <p:nvSpPr>
          <p:cNvPr id="11" name="node-2-body">
            <a:extLst xmlns:a="http://schemas.openxmlformats.org/drawingml/2006/main">
              <a:ext uri="{FF2B5EF4-FFF2-40B4-BE49-F238E27FC236}">
                <a16:creationId xmlns:a16="http://schemas.microsoft.com/office/drawing/2014/main" id="{68D8B66A-2DCA-438A-B979-B797F5C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7A"/>
                </a:solidFill>
              </a:defRPr>
            </a:pPr>
            <a:r>
              <a:rPr sz="1200" b="0">
                <a:solidFill>
                  <a:srgbClr val="60657A"/>
                </a:solidFill>
              </a:rPr>
              <a:t>Upsert chống trùng, lưu vector local</a:t>
            </a:r>
          </a:p>
        </p:txBody>
      </p:sp>
      <p:sp>
        <p:nvSpPr>
          <p:cNvPr id="12" name="node-3-title">
            <a:extLst xmlns:a="http://schemas.openxmlformats.org/drawingml/2006/main">
              <a:ext uri="{FF2B5EF4-FFF2-40B4-BE49-F238E27FC236}">
                <a16:creationId xmlns:a16="http://schemas.microsoft.com/office/drawing/2014/main" id="{6C084D49-A87A-4982-AC6F-46268CB5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28"/>
                </a:solidFill>
              </a:defRPr>
            </a:pPr>
            <a:r>
              <a:rPr sz="1650" b="1">
                <a:solidFill>
                  <a:srgbClr val="171928"/>
                </a:solidFill>
              </a:rPr>
              <a:t>03  Hybrid search</a:t>
            </a:r>
          </a:p>
        </p:txBody>
      </p:sp>
      <p:sp>
        <p:nvSpPr>
          <p:cNvPr id="13" name="node-3-body">
            <a:extLst xmlns:a="http://schemas.openxmlformats.org/drawingml/2006/main">
              <a:ext uri="{FF2B5EF4-FFF2-40B4-BE49-F238E27FC236}">
                <a16:creationId xmlns:a16="http://schemas.microsoft.com/office/drawing/2014/main" id="{FF336D01-CE9B-4C21-A418-3C8CB9A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7A"/>
                </a:solidFill>
              </a:defRPr>
            </a:pPr>
            <a:r>
              <a:rPr sz="1200" b="0">
                <a:solidFill>
                  <a:srgbClr val="60657A"/>
                </a:solidFill>
              </a:rPr>
              <a:t>50% semantic · 20% lexical · 30% quality</a:t>
            </a:r>
          </a:p>
        </p:txBody>
      </p:sp>
      <p:sp>
        <p:nvSpPr>
          <p:cNvPr id="14" name="Dashboard vận hành trên SQLite-frame">
            <a:extLst xmlns:a="http://schemas.openxmlformats.org/drawingml/2006/main">
              <a:ext uri="{FF2B5EF4-FFF2-40B4-BE49-F238E27FC236}">
                <a16:creationId xmlns:a16="http://schemas.microsoft.com/office/drawing/2014/main" id="{87F3E31C-56BC-4B37-A7D2-B5C3C53C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19400"/>
            <a:ext cx="92964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d31f36f2a4c43"/>
          <a:srcRect xmlns:a="http://schemas.openxmlformats.org/drawingml/2006/main" l="0" t="24937" r="0" b="2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2895600"/>
            <a:ext cx="9144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6" name="status">
            <a:extLst xmlns:a="http://schemas.openxmlformats.org/drawingml/2006/main">
              <a:ext uri="{FF2B5EF4-FFF2-40B4-BE49-F238E27FC236}">
                <a16:creationId xmlns:a16="http://schemas.microsoft.com/office/drawing/2014/main" id="{80E8351A-90E0-437B-89DE-963D154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05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A878"/>
                </a:solidFill>
              </a:defRPr>
            </a:pPr>
            <a:r>
              <a:rPr sz="1350" b="1">
                <a:solidFill>
                  <a:srgbClr val="20A878"/>
                </a:solidFill>
              </a:rPr>
              <a:t>23 bài · 23 vectors · 11 Discord + 12 mock</a:t>
            </a:r>
          </a:p>
        </p:txBody>
      </p:sp>
      <p:sp>
        <p:nvSpPr>
          <p:cNvPr id="1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BEC3E05D-A223-44DE-BC50-B0DB5AE4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Giải pháp</a:t>
            </a:r>
          </a:p>
        </p:txBody>
      </p:sp>
      <p:sp>
        <p:nvSpPr>
          <p:cNvPr id="1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C09EF95-5F4C-41CC-9E44-56266EA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0885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9D16E4F0-C7F4-4F9C-898E-B0A2D3F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928"/>
                </a:solidFill>
              </a:defRPr>
            </a:pPr>
            <a:r>
              <a:rPr sz="3150" b="1">
                <a:solidFill>
                  <a:srgbClr val="171928"/>
                </a:solidFill>
              </a:rPr>
              <a:t>26/26 case vượt quality bar đã chốt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5F44E1-A55D-466B-B67C-55F24AB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78"/>
          </a:solidFill>
          <a:ln xmlns:a="http://schemas.openxmlformats.org/drawingml/2006/main" w="0">
            <a:solidFill>
              <a:srgbClr val="20A878"/>
            </a:solidFill>
            <a:prstDash val="solid"/>
          </a:ln>
        </p:spPr>
      </p:sp>
      <p:sp>
        <p:nvSpPr>
          <p:cNvPr id="3" name="score">
            <a:extLst xmlns:a="http://schemas.openxmlformats.org/drawingml/2006/main">
              <a:ext uri="{FF2B5EF4-FFF2-40B4-BE49-F238E27FC236}">
                <a16:creationId xmlns:a16="http://schemas.microsoft.com/office/drawing/2014/main" id="{9F4E9F97-F00C-46C8-829E-C588179C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0A878"/>
                </a:solidFill>
              </a:defRPr>
            </a:pPr>
            <a:r>
              <a:rPr sz="6000" b="1">
                <a:solidFill>
                  <a:srgbClr val="20A878"/>
                </a:solidFill>
              </a:rPr>
              <a:t>100%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B945FA3-2F4C-4B80-ACF9-F1F9BE48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28"/>
                </a:solidFill>
              </a:defRPr>
            </a:pPr>
            <a:r>
              <a:rPr sz="1800" b="1">
                <a:solidFill>
                  <a:srgbClr val="171928"/>
                </a:solidFill>
              </a:rPr>
              <a:t>case pass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FC08D621-5C69-4536-8D1E-AE99FF01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Relevance</a:t>
            </a:r>
          </a:p>
        </p:txBody>
      </p:sp>
      <p:sp>
        <p:nvSpPr>
          <p:cNvPr id="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F0106BD-B140-4221-98E6-7FEDCA8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D42D7"/>
                </a:solidFill>
              </a:defRPr>
            </a:pPr>
            <a:r>
              <a:rPr sz="1500" b="1">
                <a:solidFill>
                  <a:srgbClr val="4D42D7"/>
                </a:solidFill>
              </a:rPr>
              <a:t>100%</a:t>
            </a:r>
          </a:p>
        </p:txBody>
      </p:sp>
      <p:sp>
        <p:nvSpPr>
          <p:cNvPr id="7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3E34337C-A962-400A-9B5A-35FCAB21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C865ECAE-FD18-4053-9396-1A186DE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Groundedness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953A9A5-1A99-41CD-A8C4-4EB80D1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D42D7"/>
                </a:solidFill>
              </a:defRPr>
            </a:pPr>
            <a:r>
              <a:rPr sz="1500" b="1">
                <a:solidFill>
                  <a:srgbClr val="4D42D7"/>
                </a:solidFill>
              </a:rPr>
              <a:t>100%</a:t>
            </a:r>
          </a:p>
        </p:txBody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03FC1EBF-C447-46AA-8A32-E3AFC98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71417530-AA3E-48D1-B0BD-9C92A70F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Transparency</a:t>
            </a:r>
          </a:p>
        </p:txBody>
      </p:sp>
      <p:sp>
        <p:nvSpPr>
          <p:cNvPr id="12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685524C-E112-4E1F-9B02-BF02E349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D42D7"/>
                </a:solidFill>
              </a:defRPr>
            </a:pPr>
            <a:r>
              <a:rPr sz="1500" b="1">
                <a:solidFill>
                  <a:srgbClr val="4D42D7"/>
                </a:solidFill>
              </a:rPr>
              <a:t>100%</a:t>
            </a:r>
          </a:p>
        </p:txBody>
      </p:sp>
      <p:sp>
        <p:nvSpPr>
          <p:cNvPr id="13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3B48B1FD-4580-4F38-B9CA-CA98F64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4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24A4415-1FAE-482D-8BAF-66B3549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Response behavior</a:t>
            </a:r>
          </a:p>
        </p:txBody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5FC97E8B-8E2F-477A-9616-54E2793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D42D7"/>
                </a:solidFill>
              </a:defRPr>
            </a:pPr>
            <a:r>
              <a:rPr sz="1500" b="1">
                <a:solidFill>
                  <a:srgbClr val="4D42D7"/>
                </a:solidFill>
              </a:rPr>
              <a:t>100%</a:t>
            </a:r>
          </a:p>
        </p:txBody>
      </p:sp>
      <p:sp>
        <p:nvSpPr>
          <p:cNvPr id="16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E211A084-E39D-4B0C-9043-436E19E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7" name="Guardrail từ chối câu hỏi thời tiết-frame">
            <a:extLst xmlns:a="http://schemas.openxmlformats.org/drawingml/2006/main">
              <a:ext uri="{FF2B5EF4-FFF2-40B4-BE49-F238E27FC236}">
                <a16:creationId xmlns:a16="http://schemas.microsoft.com/office/drawing/2014/main" id="{8E950EE9-100A-4A9F-8EEA-107287D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04950"/>
            <a:ext cx="662940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E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0898f2db547a1"/>
          <a:srcRect xmlns:a="http://schemas.openxmlformats.org/drawingml/2006/main" l="0" t="463" r="0" b="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581150"/>
            <a:ext cx="6477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quality-bar">
            <a:extLst xmlns:a="http://schemas.openxmlformats.org/drawingml/2006/main">
              <a:ext uri="{FF2B5EF4-FFF2-40B4-BE49-F238E27FC236}">
                <a16:creationId xmlns:a16="http://schemas.microsoft.com/office/drawing/2014/main" id="{EABFB8BF-5F11-4DD0-B631-94787CA4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10250"/>
            <a:ext cx="64770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0" name="quality-bar-text">
            <a:extLst xmlns:a="http://schemas.openxmlformats.org/drawingml/2006/main">
              <a:ext uri="{FF2B5EF4-FFF2-40B4-BE49-F238E27FC236}">
                <a16:creationId xmlns:a16="http://schemas.microsoft.com/office/drawing/2014/main" id="{5FE71B07-8469-4DAF-B44E-E0B96B09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0"/>
            <a:ext cx="607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A878"/>
                </a:solidFill>
              </a:defRPr>
            </a:pPr>
            <a:r>
              <a:rPr sz="1275" b="1">
                <a:solidFill>
                  <a:srgbClr val="20A878"/>
                </a:solidFill>
              </a:rPr>
              <a:t>Bar: ≥80% relevance · 100% groundedness · không bịa post ID</a:t>
            </a:r>
          </a:p>
        </p:txBody>
      </p:sp>
      <p:sp>
        <p:nvSpPr>
          <p:cNvPr id="21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407FD62-1E34-4065-8331-462A0D7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Kết quả đo</a:t>
            </a:r>
          </a:p>
        </p:txBody>
      </p:sp>
      <p:sp>
        <p:nvSpPr>
          <p:cNvPr id="2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A2091CB-804F-4E22-8DD6-769D64E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6117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69AC6063-85A3-4B07-A404-314B758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928"/>
                </a:solidFill>
              </a:defRPr>
            </a:pPr>
            <a:r>
              <a:rPr sz="3150" b="1">
                <a:solidFill>
                  <a:srgbClr val="171928"/>
                </a:solidFill>
              </a:rPr>
              <a:t>Validation với người dùng là khoảng trống còn lại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BA10173-E1B3-4366-A4EE-617D3E9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16"/>
          </a:solidFill>
          <a:ln xmlns:a="http://schemas.openxmlformats.org/drawingml/2006/main" w="0">
            <a:solidFill>
              <a:srgbClr val="C77B16"/>
            </a:solidFill>
            <a:prstDash val="solid"/>
          </a:ln>
        </p:spPr>
      </p:sp>
      <p:sp>
        <p:nvSpPr>
          <p:cNvPr id="3" name="zero">
            <a:extLst xmlns:a="http://schemas.openxmlformats.org/drawingml/2006/main">
              <a:ext uri="{FF2B5EF4-FFF2-40B4-BE49-F238E27FC236}">
                <a16:creationId xmlns:a16="http://schemas.microsoft.com/office/drawing/2014/main" id="{873F09FA-944F-4210-9942-8890694E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77B16"/>
                </a:solidFill>
              </a:defRPr>
            </a:pPr>
            <a:r>
              <a:rPr sz="5850" b="1">
                <a:solidFill>
                  <a:srgbClr val="C77B16"/>
                </a:solidFill>
              </a:rPr>
              <a:t>0 / 5</a:t>
            </a:r>
          </a:p>
        </p:txBody>
      </p:sp>
      <p:sp>
        <p:nvSpPr>
          <p:cNvPr id="4" name="zero-label">
            <a:extLst xmlns:a="http://schemas.openxmlformats.org/drawingml/2006/main">
              <a:ext uri="{FF2B5EF4-FFF2-40B4-BE49-F238E27FC236}">
                <a16:creationId xmlns:a16="http://schemas.microsoft.com/office/drawing/2014/main" id="{84A05294-A906-4903-AA4E-FAD0D7FA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28"/>
                </a:solidFill>
              </a:defRPr>
            </a:pPr>
            <a:r>
              <a:rPr sz="1650" b="1">
                <a:solidFill>
                  <a:srgbClr val="171928"/>
                </a:solidFill>
              </a:rPr>
              <a:t>phiên test đã được log</a:t>
            </a:r>
          </a:p>
        </p:txBody>
      </p:sp>
      <p:sp>
        <p:nvSpPr>
          <p:cNvPr id="5" name="honesty-box">
            <a:extLst xmlns:a="http://schemas.openxmlformats.org/drawingml/2006/main">
              <a:ext uri="{FF2B5EF4-FFF2-40B4-BE49-F238E27FC236}">
                <a16:creationId xmlns:a16="http://schemas.microsoft.com/office/drawing/2014/main" id="{B5FDB423-4C0F-41FF-859A-5402CD7D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619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FF5DF"/>
            </a:solidFill>
            <a:prstDash val="solid"/>
          </a:ln>
        </p:spPr>
      </p:sp>
      <p:sp>
        <p:nvSpPr>
          <p:cNvPr id="6" name="honesty-text">
            <a:extLst xmlns:a="http://schemas.openxmlformats.org/drawingml/2006/main">
              <a:ext uri="{FF2B5EF4-FFF2-40B4-BE49-F238E27FC236}">
                <a16:creationId xmlns:a16="http://schemas.microsoft.com/office/drawing/2014/main" id="{0C886589-60A4-462A-B98E-CCC0C775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B16"/>
                </a:solidFill>
              </a:defRPr>
            </a:pPr>
            <a:r>
              <a:rPr sz="1650" b="1">
                <a:solidFill>
                  <a:srgbClr val="C77B16"/>
                </a:solidFill>
              </a:rPr>
              <a:t>Không tạo quote giả.</a:t>
            </a:r>
          </a:p>
          <a:p xmlns:a="http://schemas.openxmlformats.org/drawingml/2006/main">
            <a:pPr algn="l">
              <a:defRPr sz="1650" b="1">
                <a:solidFill>
                  <a:srgbClr val="C77B16"/>
                </a:solidFill>
              </a:defRPr>
            </a:pPr>
            <a:r>
              <a:rPr sz="1650" b="1">
                <a:solidFill>
                  <a:srgbClr val="C77B16"/>
                </a:solidFill>
              </a:rPr>
              <a:t>Slide này sẽ được cập nhật sau validation.</a:t>
            </a:r>
          </a:p>
        </p:txBody>
      </p:sp>
      <p:sp>
        <p:nvSpPr>
          <p:cNvPr id="7" name="task-title">
            <a:extLst xmlns:a="http://schemas.openxmlformats.org/drawingml/2006/main">
              <a:ext uri="{FF2B5EF4-FFF2-40B4-BE49-F238E27FC236}">
                <a16:creationId xmlns:a16="http://schemas.microsoft.com/office/drawing/2014/main" id="{7AC828D2-ED56-42CC-A0A1-265E1144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28"/>
                </a:solidFill>
              </a:defRPr>
            </a:pPr>
            <a:r>
              <a:rPr sz="1950" b="1">
                <a:solidFill>
                  <a:srgbClr val="171928"/>
                </a:solidFill>
              </a:rPr>
              <a:t>Mỗi phiên 10 phút cần trả lời 3 câu</a:t>
            </a:r>
          </a:p>
        </p:txBody>
      </p:sp>
      <p:sp>
        <p:nvSpPr>
          <p:cNvPr id="8" name="q-num-0">
            <a:extLst xmlns:a="http://schemas.openxmlformats.org/drawingml/2006/main">
              <a:ext uri="{FF2B5EF4-FFF2-40B4-BE49-F238E27FC236}">
                <a16:creationId xmlns:a16="http://schemas.microsoft.com/office/drawing/2014/main" id="{83B6A218-4A7D-4C24-B238-171DA92B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5CF6"/>
                </a:solidFill>
              </a:defRPr>
            </a:pPr>
            <a:r>
              <a:rPr sz="2100" b="1">
                <a:solidFill>
                  <a:srgbClr val="665CF6"/>
                </a:solidFill>
              </a:rPr>
              <a:t>01</a:t>
            </a:r>
          </a:p>
        </p:txBody>
      </p:sp>
      <p:sp>
        <p:nvSpPr>
          <p:cNvPr id="9" name="q-text-0">
            <a:extLst xmlns:a="http://schemas.openxmlformats.org/drawingml/2006/main">
              <a:ext uri="{FF2B5EF4-FFF2-40B4-BE49-F238E27FC236}">
                <a16:creationId xmlns:a16="http://schemas.microsoft.com/office/drawing/2014/main" id="{9E66D925-C89C-4AA6-B40C-6A00AE0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28"/>
                </a:solidFill>
              </a:defRPr>
            </a:pPr>
            <a:r>
              <a:rPr sz="1800" b="1">
                <a:solidFill>
                  <a:srgbClr val="171928"/>
                </a:solidFill>
              </a:rPr>
              <a:t>Điều gì khó hiểu hoặc khó chịu nhất?</a:t>
            </a:r>
          </a:p>
        </p:txBody>
      </p:sp>
      <p:sp>
        <p:nvSpPr>
          <p:cNvPr id="10" name="q-rule-0">
            <a:extLst xmlns:a="http://schemas.openxmlformats.org/drawingml/2006/main">
              <a:ext uri="{FF2B5EF4-FFF2-40B4-BE49-F238E27FC236}">
                <a16:creationId xmlns:a16="http://schemas.microsoft.com/office/drawing/2014/main" id="{36B26860-0875-417B-B4EC-7919D08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1" name="q-num-1">
            <a:extLst xmlns:a="http://schemas.openxmlformats.org/drawingml/2006/main">
              <a:ext uri="{FF2B5EF4-FFF2-40B4-BE49-F238E27FC236}">
                <a16:creationId xmlns:a16="http://schemas.microsoft.com/office/drawing/2014/main" id="{6131436C-94DD-4F87-AEB3-3ADD8903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48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5CF6"/>
                </a:solidFill>
              </a:defRPr>
            </a:pPr>
            <a:r>
              <a:rPr sz="2100" b="1">
                <a:solidFill>
                  <a:srgbClr val="665CF6"/>
                </a:solidFill>
              </a:rPr>
              <a:t>02</a:t>
            </a:r>
          </a:p>
        </p:txBody>
      </p:sp>
      <p:sp>
        <p:nvSpPr>
          <p:cNvPr id="12" name="q-text-1">
            <a:extLst xmlns:a="http://schemas.openxmlformats.org/drawingml/2006/main">
              <a:ext uri="{FF2B5EF4-FFF2-40B4-BE49-F238E27FC236}">
                <a16:creationId xmlns:a16="http://schemas.microsoft.com/office/drawing/2014/main" id="{AC2B0BFB-456B-4AB2-ABC1-485B5844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28"/>
                </a:solidFill>
              </a:defRPr>
            </a:pPr>
            <a:r>
              <a:rPr sz="1800" b="1">
                <a:solidFill>
                  <a:srgbClr val="171928"/>
                </a:solidFill>
              </a:rPr>
              <a:t>Bạn có tin kết quả này không? Vì sao?</a:t>
            </a:r>
          </a:p>
        </p:txBody>
      </p:sp>
      <p:sp>
        <p:nvSpPr>
          <p:cNvPr id="13" name="q-rule-1">
            <a:extLst xmlns:a="http://schemas.openxmlformats.org/drawingml/2006/main">
              <a:ext uri="{FF2B5EF4-FFF2-40B4-BE49-F238E27FC236}">
                <a16:creationId xmlns:a16="http://schemas.microsoft.com/office/drawing/2014/main" id="{649D6F30-AE50-4F2E-A96F-08DDF49E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4" name="q-num-2">
            <a:extLst xmlns:a="http://schemas.openxmlformats.org/drawingml/2006/main">
              <a:ext uri="{FF2B5EF4-FFF2-40B4-BE49-F238E27FC236}">
                <a16:creationId xmlns:a16="http://schemas.microsoft.com/office/drawing/2014/main" id="{895A2FB6-745E-46D9-9C0E-536F299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196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5CF6"/>
                </a:solidFill>
              </a:defRPr>
            </a:pPr>
            <a:r>
              <a:rPr sz="2100" b="1">
                <a:solidFill>
                  <a:srgbClr val="665CF6"/>
                </a:solidFill>
              </a:rPr>
              <a:t>03</a:t>
            </a:r>
          </a:p>
        </p:txBody>
      </p:sp>
      <p:sp>
        <p:nvSpPr>
          <p:cNvPr id="15" name="q-text-2">
            <a:extLst xmlns:a="http://schemas.openxmlformats.org/drawingml/2006/main">
              <a:ext uri="{FF2B5EF4-FFF2-40B4-BE49-F238E27FC236}">
                <a16:creationId xmlns:a16="http://schemas.microsoft.com/office/drawing/2014/main" id="{32B0776F-E0CB-4516-9158-CC555C2E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28"/>
                </a:solidFill>
              </a:defRPr>
            </a:pPr>
            <a:r>
              <a:rPr sz="1800" b="1">
                <a:solidFill>
                  <a:srgbClr val="171928"/>
                </a:solidFill>
              </a:rPr>
              <a:t>Bạn có dùng thật không? Vì sao?</a:t>
            </a:r>
          </a:p>
        </p:txBody>
      </p:sp>
      <p:sp>
        <p:nvSpPr>
          <p:cNvPr id="16" name="validation-output">
            <a:extLst xmlns:a="http://schemas.openxmlformats.org/drawingml/2006/main">
              <a:ext uri="{FF2B5EF4-FFF2-40B4-BE49-F238E27FC236}">
                <a16:creationId xmlns:a16="http://schemas.microsoft.com/office/drawing/2014/main" id="{94E1520C-7193-4FD4-B5D7-57EB5CB7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435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7A"/>
                </a:solidFill>
              </a:defRPr>
            </a:pPr>
            <a:r>
              <a:rPr sz="1350" b="0">
                <a:solidFill>
                  <a:srgbClr val="60657A"/>
                </a:solidFill>
              </a:rPr>
              <a:t>Đầu ra cần có: quan sát · quote nguyên văn · mức nghiêm trọng · thay đổi</a:t>
            </a:r>
          </a:p>
        </p:txBody>
      </p:sp>
      <p:sp>
        <p:nvSpPr>
          <p:cNvPr id="17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65D8B8A1-2F3C-434A-A252-0A97DC8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User validation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BCB4083-A56F-47BE-B5E7-2A3F90E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3465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CF2675AD-FE47-462D-BECB-B81511A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928"/>
                </a:solidFill>
              </a:defRPr>
            </a:pPr>
            <a:r>
              <a:rPr sz="3150" b="1">
                <a:solidFill>
                  <a:srgbClr val="171928"/>
                </a:solidFill>
              </a:rPr>
              <a:t>Thêm một tuần: tăng độ chính xác trước khi mở rộng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FE0D7F-CDA3-4BE3-B47D-34ACECBB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F6"/>
          </a:solidFill>
          <a:ln xmlns:a="http://schemas.openxmlformats.org/drawingml/2006/main" w="0">
            <a:solidFill>
              <a:srgbClr val="665CF6"/>
            </a:solidFill>
            <a:prstDash val="solid"/>
          </a:ln>
        </p:spPr>
      </p:sp>
      <p:sp>
        <p:nvSpPr>
          <p:cNvPr id="3" name="priority-num-0">
            <a:extLst xmlns:a="http://schemas.openxmlformats.org/drawingml/2006/main">
              <a:ext uri="{FF2B5EF4-FFF2-40B4-BE49-F238E27FC236}">
                <a16:creationId xmlns:a16="http://schemas.microsoft.com/office/drawing/2014/main" id="{90E3A217-0FEE-41B4-AB52-143851F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65CF6"/>
                </a:solidFill>
              </a:defRPr>
            </a:pPr>
            <a:r>
              <a:rPr sz="2850" b="1">
                <a:solidFill>
                  <a:srgbClr val="665CF6"/>
                </a:solidFill>
              </a:rPr>
              <a:t>01</a:t>
            </a:r>
          </a:p>
        </p:txBody>
      </p:sp>
      <p:sp>
        <p:nvSpPr>
          <p:cNvPr id="4" name="priority-title-0">
            <a:extLst xmlns:a="http://schemas.openxmlformats.org/drawingml/2006/main">
              <a:ext uri="{FF2B5EF4-FFF2-40B4-BE49-F238E27FC236}">
                <a16:creationId xmlns:a16="http://schemas.microsoft.com/office/drawing/2014/main" id="{ED660EA0-3EE6-4E96-AD6E-C9B73C3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28"/>
                </a:solidFill>
              </a:defRPr>
            </a:pPr>
            <a:r>
              <a:rPr sz="2100" b="1">
                <a:solidFill>
                  <a:srgbClr val="171928"/>
                </a:solidFill>
              </a:rPr>
              <a:t>Multilingual neural embedding</a:t>
            </a:r>
          </a:p>
        </p:txBody>
      </p:sp>
      <p:sp>
        <p:nvSpPr>
          <p:cNvPr id="5" name="priority-body-0">
            <a:extLst xmlns:a="http://schemas.openxmlformats.org/drawingml/2006/main">
              <a:ext uri="{FF2B5EF4-FFF2-40B4-BE49-F238E27FC236}">
                <a16:creationId xmlns:a16="http://schemas.microsoft.com/office/drawing/2014/main" id="{E6F6BB3D-6345-47F4-A6CA-4035F86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479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Thay local hash vector để hiểu ngữ nghĩa tiếng Việt tốt hơn.</a:t>
            </a:r>
          </a:p>
        </p:txBody>
      </p:sp>
      <p:sp>
        <p:nvSpPr>
          <p:cNvPr id="6" name="priority-rule-0">
            <a:extLst xmlns:a="http://schemas.openxmlformats.org/drawingml/2006/main">
              <a:ext uri="{FF2B5EF4-FFF2-40B4-BE49-F238E27FC236}">
                <a16:creationId xmlns:a16="http://schemas.microsoft.com/office/drawing/2014/main" id="{F76EA534-5201-48EA-B076-B508B6F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7" name="priority-num-1">
            <a:extLst xmlns:a="http://schemas.openxmlformats.org/drawingml/2006/main">
              <a:ext uri="{FF2B5EF4-FFF2-40B4-BE49-F238E27FC236}">
                <a16:creationId xmlns:a16="http://schemas.microsoft.com/office/drawing/2014/main" id="{F5F5546A-881A-43C8-BD6F-259E098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65CF6"/>
                </a:solidFill>
              </a:defRPr>
            </a:pPr>
            <a:r>
              <a:rPr sz="2850" b="1">
                <a:solidFill>
                  <a:srgbClr val="665CF6"/>
                </a:solidFill>
              </a:rPr>
              <a:t>02</a:t>
            </a:r>
          </a:p>
        </p:txBody>
      </p:sp>
      <p:sp>
        <p:nvSpPr>
          <p:cNvPr id="8" name="priority-title-1">
            <a:extLst xmlns:a="http://schemas.openxmlformats.org/drawingml/2006/main">
              <a:ext uri="{FF2B5EF4-FFF2-40B4-BE49-F238E27FC236}">
                <a16:creationId xmlns:a16="http://schemas.microsoft.com/office/drawing/2014/main" id="{6EB87ED0-5F44-4F11-936E-C17604A8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48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28"/>
                </a:solidFill>
              </a:defRPr>
            </a:pPr>
            <a:r>
              <a:rPr sz="2100" b="1">
                <a:solidFill>
                  <a:srgbClr val="171928"/>
                </a:solidFill>
              </a:rPr>
              <a:t>Quality score từ tín hiệu thật</a:t>
            </a:r>
          </a:p>
        </p:txBody>
      </p:sp>
      <p:sp>
        <p:nvSpPr>
          <p:cNvPr id="9" name="priority-body-1">
            <a:extLst xmlns:a="http://schemas.openxmlformats.org/drawingml/2006/main">
              <a:ext uri="{FF2B5EF4-FFF2-40B4-BE49-F238E27FC236}">
                <a16:creationId xmlns:a16="http://schemas.microsoft.com/office/drawing/2014/main" id="{9CA62E1F-98BD-443F-8493-1BEC05E0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052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Hiệu chỉnh proxy engagement bằng dữ liệu quan sát được.</a:t>
            </a:r>
          </a:p>
        </p:txBody>
      </p:sp>
      <p:sp>
        <p:nvSpPr>
          <p:cNvPr id="10" name="priority-rule-1">
            <a:extLst xmlns:a="http://schemas.openxmlformats.org/drawingml/2006/main">
              <a:ext uri="{FF2B5EF4-FFF2-40B4-BE49-F238E27FC236}">
                <a16:creationId xmlns:a16="http://schemas.microsoft.com/office/drawing/2014/main" id="{069F85D0-EE20-4A99-B2F9-1DB62B6F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F"/>
          </a:solidFill>
          <a:ln xmlns:a="http://schemas.openxmlformats.org/drawingml/2006/main" w="0">
            <a:solidFill>
              <a:srgbClr val="E2E4EF"/>
            </a:solidFill>
            <a:prstDash val="solid"/>
          </a:ln>
        </p:spPr>
      </p:sp>
      <p:sp>
        <p:nvSpPr>
          <p:cNvPr id="11" name="priority-num-2">
            <a:extLst xmlns:a="http://schemas.openxmlformats.org/drawingml/2006/main">
              <a:ext uri="{FF2B5EF4-FFF2-40B4-BE49-F238E27FC236}">
                <a16:creationId xmlns:a16="http://schemas.microsoft.com/office/drawing/2014/main" id="{3ED6C598-7508-491D-886B-6D7362F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65CF6"/>
                </a:solidFill>
              </a:defRPr>
            </a:pPr>
            <a:r>
              <a:rPr sz="2850" b="1">
                <a:solidFill>
                  <a:srgbClr val="665CF6"/>
                </a:solidFill>
              </a:rPr>
              <a:t>03</a:t>
            </a:r>
          </a:p>
        </p:txBody>
      </p:sp>
      <p:sp>
        <p:nvSpPr>
          <p:cNvPr id="12" name="priority-title-2">
            <a:extLst xmlns:a="http://schemas.openxmlformats.org/drawingml/2006/main">
              <a:ext uri="{FF2B5EF4-FFF2-40B4-BE49-F238E27FC236}">
                <a16:creationId xmlns:a16="http://schemas.microsoft.com/office/drawing/2014/main" id="{E4DE0031-10C6-483B-8621-B7D5E23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28"/>
                </a:solidFill>
              </a:defRPr>
            </a:pPr>
            <a:r>
              <a:rPr sz="2100" b="1">
                <a:solidFill>
                  <a:srgbClr val="171928"/>
                </a:solidFill>
              </a:rPr>
              <a:t>Workflow có retry và quan sát lỗi</a:t>
            </a:r>
          </a:p>
        </p:txBody>
      </p:sp>
      <p:sp>
        <p:nvSpPr>
          <p:cNvPr id="13" name="priority-body-2">
            <a:extLst xmlns:a="http://schemas.openxmlformats.org/drawingml/2006/main">
              <a:ext uri="{FF2B5EF4-FFF2-40B4-BE49-F238E27FC236}">
                <a16:creationId xmlns:a16="http://schemas.microsoft.com/office/drawing/2014/main" id="{F450A307-F804-46EA-8418-7B2E0A70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7A"/>
                </a:solidFill>
              </a:defRPr>
            </a:pPr>
            <a:r>
              <a:rPr sz="1500" b="0">
                <a:solidFill>
                  <a:srgbClr val="60657A"/>
                </a:solidFill>
              </a:rPr>
              <a:t>Thêm queue, retry policy và cảnh báo cho Discord worker.</a:t>
            </a:r>
          </a:p>
        </p:txBody>
      </p:sp>
      <p:sp>
        <p:nvSpPr>
          <p:cNvPr id="14" name="closing-box">
            <a:extLst xmlns:a="http://schemas.openxmlformats.org/drawingml/2006/main">
              <a:ext uri="{FF2B5EF4-FFF2-40B4-BE49-F238E27FC236}">
                <a16:creationId xmlns:a16="http://schemas.microsoft.com/office/drawing/2014/main" id="{F7094665-DD73-4A36-AA67-02BE7160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EFFD"/>
          </a:solidFill>
          <a:ln xmlns:a="http://schemas.openxmlformats.org/drawingml/2006/main" w="9525">
            <a:solidFill>
              <a:srgbClr val="EEEFFD"/>
            </a:solidFill>
            <a:prstDash val="solid"/>
          </a:ln>
        </p:spPr>
      </p:sp>
      <p:sp>
        <p:nvSpPr>
          <p:cNvPr id="15" name="closing">
            <a:extLst xmlns:a="http://schemas.openxmlformats.org/drawingml/2006/main">
              <a:ext uri="{FF2B5EF4-FFF2-40B4-BE49-F238E27FC236}">
                <a16:creationId xmlns:a16="http://schemas.microsoft.com/office/drawing/2014/main" id="{D198278B-B5B5-4C1C-9EEC-A188FF8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42D7"/>
                </a:solidFill>
              </a:defRPr>
            </a:pPr>
            <a:r>
              <a:rPr sz="1575" b="1">
                <a:solidFill>
                  <a:srgbClr val="4D42D7"/>
                </a:solidFill>
              </a:rPr>
              <a:t>Mục tiêu không phải trả lời thay bài viết — mà là đưa người học về đúng nguồn đáng đọc.</a:t>
            </a:r>
          </a:p>
        </p:txBody>
      </p:sp>
      <p:sp>
        <p:nvSpPr>
          <p:cNvPr id="16" name="team">
            <a:extLst xmlns:a="http://schemas.openxmlformats.org/drawingml/2006/main">
              <a:ext uri="{FF2B5EF4-FFF2-40B4-BE49-F238E27FC236}">
                <a16:creationId xmlns:a16="http://schemas.microsoft.com/office/drawing/2014/main" id="{09893F8A-2101-4BBD-A80C-8D48489A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1A4"/>
                </a:solidFill>
              </a:defRPr>
            </a:pPr>
            <a:r>
              <a:rPr sz="1050" b="0">
                <a:solidFill>
                  <a:srgbClr val="8D91A4"/>
                </a:solidFill>
              </a:rPr>
              <a:t>Nguyễn Huy Nghĩa · Phạm Thế Dũng · Phạm Văn Lưu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7AB5BA1F-A755-4DFB-8E00-B9BB5CA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91A4"/>
                </a:solidFill>
              </a:defRPr>
            </a:pPr>
            <a:r>
              <a:rPr sz="1050" b="1">
                <a:solidFill>
                  <a:srgbClr val="8D91A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9408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2026-07-31T02:47:13.7370000Z</dcterms:created>
  <dcterms:modified xsi:type="dcterms:W3CDTF">2026-07-31T02:47:13.7370000Z</dcterms:modified>
</coreProperties>
</file>